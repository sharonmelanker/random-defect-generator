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9" r:id="rId4"/>
    <p:sldId id="258" r:id="rId5"/>
    <p:sldId id="260" r:id="rId6"/>
    <p:sldId id="269" r:id="rId7"/>
    <p:sldId id="267" r:id="rId8"/>
    <p:sldId id="270" r:id="rId9"/>
    <p:sldId id="266" r:id="rId10"/>
    <p:sldId id="268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0817-A112-4847-8014-A94B7D2A4EA3}" type="datetime1">
              <a:rPr lang="en-US" smtClean="0"/>
              <a:t>4/7/2024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551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4/7/2024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76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46AA-F36E-4540-911D-FFFC0A0EF24A}" type="datetime1">
              <a:rPr lang="en-US" smtClean="0"/>
              <a:t>4/7/2024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668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4/7/2024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41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4/7/2024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60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4/7/2024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4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4/7/2024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47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12A6-918A-48BD-8CB9-CA713993B0EA}" type="datetime1">
              <a:rPr lang="en-US" smtClean="0"/>
              <a:t>4/7/2024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48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CE86-875F-4587-BCF6-FA054AFC0D53}" type="datetime1">
              <a:rPr lang="en-US" smtClean="0"/>
              <a:pPr/>
              <a:t>4/7/2024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30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4/7/2024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98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4/7/2024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07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4/7/2024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88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math symbols&#10;&#10;Description automatically generated">
            <a:extLst>
              <a:ext uri="{FF2B5EF4-FFF2-40B4-BE49-F238E27FC236}">
                <a16:creationId xmlns:a16="http://schemas.microsoft.com/office/drawing/2014/main" id="{59F58BCB-3771-BABA-8E45-AA91B962E1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5" b="6966"/>
          <a:stretch/>
        </p:blipFill>
        <p:spPr>
          <a:xfrm>
            <a:off x="1" y="10"/>
            <a:ext cx="1219199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C8E517-D542-5A6E-2077-0379E4B92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613" y="725104"/>
            <a:ext cx="10638774" cy="3248631"/>
          </a:xfrm>
        </p:spPr>
        <p:txBody>
          <a:bodyPr anchor="b">
            <a:noAutofit/>
          </a:bodyPr>
          <a:lstStyle/>
          <a:p>
            <a:r>
              <a:rPr lang="he-IL" sz="8000" b="1" dirty="0">
                <a:latin typeface="David" panose="020E0502060401010101" pitchFamily="34" charset="-79"/>
                <a:cs typeface="David" panose="020E0502060401010101" pitchFamily="34" charset="-79"/>
              </a:rPr>
              <a:t>מודלים </a:t>
            </a:r>
            <a:r>
              <a:rPr lang="he-IL" sz="8000" b="1">
                <a:latin typeface="David" panose="020E0502060401010101" pitchFamily="34" charset="-79"/>
                <a:cs typeface="David" panose="020E0502060401010101" pitchFamily="34" charset="-79"/>
              </a:rPr>
              <a:t>מתמטיים בטכנולוגיה </a:t>
            </a:r>
            <a:r>
              <a:rPr lang="he-IL" sz="8000" b="1" dirty="0">
                <a:latin typeface="David" panose="020E0502060401010101" pitchFamily="34" charset="-79"/>
                <a:cs typeface="David" panose="020E0502060401010101" pitchFamily="34" charset="-79"/>
              </a:rPr>
              <a:t>כלכלה ורפואה</a:t>
            </a:r>
            <a:endParaRPr lang="en-IL" sz="8000" b="1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C71F7-16A6-C3F2-45BE-AF0EAE048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682680"/>
            <a:ext cx="9250018" cy="153921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he-IL" b="1" dirty="0">
                <a:latin typeface="David" panose="020E0502060401010101" pitchFamily="34" charset="-79"/>
                <a:cs typeface="David" panose="020E0502060401010101" pitchFamily="34" charset="-79"/>
              </a:rPr>
              <a:t>מגישות: שרון </a:t>
            </a:r>
            <a:r>
              <a:rPr lang="he-IL" b="1" dirty="0" err="1">
                <a:latin typeface="David" panose="020E0502060401010101" pitchFamily="34" charset="-79"/>
                <a:cs typeface="David" panose="020E0502060401010101" pitchFamily="34" charset="-79"/>
              </a:rPr>
              <a:t>מלאנקר</a:t>
            </a:r>
            <a:r>
              <a:rPr lang="he-IL" b="1" dirty="0">
                <a:latin typeface="David" panose="020E0502060401010101" pitchFamily="34" charset="-79"/>
                <a:cs typeface="David" panose="020E0502060401010101" pitchFamily="34" charset="-79"/>
              </a:rPr>
              <a:t>, עדן גלעד, דנה צרצנקוב ומאיה פרץ</a:t>
            </a:r>
          </a:p>
          <a:p>
            <a:pPr>
              <a:spcAft>
                <a:spcPts val="600"/>
              </a:spcAft>
            </a:pPr>
            <a:r>
              <a:rPr lang="he-IL" b="1" dirty="0">
                <a:latin typeface="David" panose="020E0502060401010101" pitchFamily="34" charset="-79"/>
                <a:cs typeface="David" panose="020E0502060401010101" pitchFamily="34" charset="-79"/>
              </a:rPr>
              <a:t>מנחה : ד"ר אולג </a:t>
            </a:r>
            <a:r>
              <a:rPr lang="he-IL" b="1" dirty="0" err="1">
                <a:latin typeface="David" panose="020E0502060401010101" pitchFamily="34" charset="-79"/>
                <a:cs typeface="David" panose="020E0502060401010101" pitchFamily="34" charset="-79"/>
              </a:rPr>
              <a:t>קופרווסר</a:t>
            </a:r>
            <a:endParaRPr lang="he-IL" b="1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spcAft>
                <a:spcPts val="600"/>
              </a:spcAft>
            </a:pPr>
            <a:endParaRPr lang="en-US" b="1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spcAft>
                <a:spcPts val="600"/>
              </a:spcAft>
            </a:pPr>
            <a:endParaRPr lang="he" b="1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spcAft>
                <a:spcPts val="600"/>
              </a:spcAft>
            </a:pPr>
            <a:endParaRPr lang="en-IL" b="1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46318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-up of a marble&#10;&#10;Description automatically generated">
            <a:extLst>
              <a:ext uri="{FF2B5EF4-FFF2-40B4-BE49-F238E27FC236}">
                <a16:creationId xmlns:a16="http://schemas.microsoft.com/office/drawing/2014/main" id="{A830F8AC-F7A0-4DF4-601F-B6699C68B5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2" b="-1"/>
          <a:stretch/>
        </p:blipFill>
        <p:spPr>
          <a:xfrm>
            <a:off x="1" y="9949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E461C4-8050-1D0B-A5CA-ABE56CA85F92}"/>
              </a:ext>
            </a:extLst>
          </p:cNvPr>
          <p:cNvSpPr txBox="1"/>
          <p:nvPr/>
        </p:nvSpPr>
        <p:spPr>
          <a:xfrm>
            <a:off x="6877878" y="182563"/>
            <a:ext cx="4475921" cy="20690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dirty="0" err="1"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תוכן</a:t>
            </a:r>
            <a:r>
              <a:rPr lang="en-US" sz="6000" b="1" dirty="0"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 </a:t>
            </a:r>
            <a:r>
              <a:rPr lang="en-US" sz="6000" b="1" dirty="0" err="1"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עניינים</a:t>
            </a:r>
            <a:endParaRPr lang="en-US" sz="6000" b="1" dirty="0">
              <a:latin typeface="David" panose="020E0502060401010101" pitchFamily="34" charset="-79"/>
              <a:ea typeface="+mj-ea"/>
              <a:cs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694FD0-C3CC-510C-2180-C0BC99370C50}"/>
              </a:ext>
            </a:extLst>
          </p:cNvPr>
          <p:cNvSpPr txBox="1"/>
          <p:nvPr/>
        </p:nvSpPr>
        <p:spPr>
          <a:xfrm>
            <a:off x="6450497" y="1678827"/>
            <a:ext cx="4972006" cy="4682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14350" indent="-457200" algn="r" defTabSz="914400" rtl="1">
              <a:lnSpc>
                <a:spcPct val="15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מטלה והאסטרטגיה לפתרון</a:t>
            </a:r>
          </a:p>
          <a:p>
            <a:pPr marL="514350" indent="-457200" algn="r" defTabSz="914400" rtl="1">
              <a:lnSpc>
                <a:spcPct val="15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הקדמה</a:t>
            </a:r>
          </a:p>
          <a:p>
            <a:pPr marL="514350" indent="-457200" algn="r" defTabSz="914400" rtl="1">
              <a:lnSpc>
                <a:spcPct val="15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הרעיון</a:t>
            </a:r>
          </a:p>
          <a:p>
            <a:pPr marL="514350" indent="-457200" algn="r" defTabSz="914400" rtl="1">
              <a:lnSpc>
                <a:spcPct val="15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he-IL" sz="3200" dirty="0">
                <a:latin typeface="David" panose="020E0502060401010101" pitchFamily="34" charset="-79"/>
                <a:cs typeface="David" panose="020E0502060401010101" pitchFamily="34" charset="-79"/>
              </a:rPr>
              <a:t>אלגוריתם ותוצאות</a:t>
            </a:r>
            <a:endParaRPr lang="en-US" sz="3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98199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743B6E-B9BE-CEAE-ED01-89B6D18BB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-up of a marble&#10;&#10;Description automatically generated">
            <a:extLst>
              <a:ext uri="{FF2B5EF4-FFF2-40B4-BE49-F238E27FC236}">
                <a16:creationId xmlns:a16="http://schemas.microsoft.com/office/drawing/2014/main" id="{4AAD4ECB-D6FB-2821-B2A3-4CE5962F39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8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A6248C-83E2-B71E-8954-858C390AE589}"/>
              </a:ext>
            </a:extLst>
          </p:cNvPr>
          <p:cNvSpPr txBox="1"/>
          <p:nvPr/>
        </p:nvSpPr>
        <p:spPr>
          <a:xfrm>
            <a:off x="4601818" y="365125"/>
            <a:ext cx="6751982" cy="1284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 rt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 err="1"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מטלה</a:t>
            </a:r>
            <a:r>
              <a:rPr lang="en-US" sz="4400" b="1" dirty="0"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 </a:t>
            </a:r>
            <a:r>
              <a:rPr lang="en-US" sz="4400" b="1" dirty="0" err="1"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והאסטרטגיה</a:t>
            </a:r>
            <a:r>
              <a:rPr lang="en-US" sz="4400" b="1" dirty="0"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 </a:t>
            </a:r>
            <a:r>
              <a:rPr lang="en-US" sz="4400" b="1" dirty="0" err="1"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לפתרון</a:t>
            </a:r>
            <a:endParaRPr lang="en-US" sz="4400" b="1" dirty="0">
              <a:latin typeface="David" panose="020E0502060401010101" pitchFamily="34" charset="-79"/>
              <a:ea typeface="+mj-ea"/>
              <a:cs typeface="David" panose="020E0502060401010101" pitchFamily="34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0DB7C-A137-B5C6-9DCC-ECC6B823AF2D}"/>
              </a:ext>
            </a:extLst>
          </p:cNvPr>
          <p:cNvSpPr txBox="1"/>
          <p:nvPr/>
        </p:nvSpPr>
        <p:spPr>
          <a:xfrm>
            <a:off x="1684158" y="2015011"/>
            <a:ext cx="9882808" cy="3936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r" defTabSz="914400" rtl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 err="1">
                <a:latin typeface="David" panose="020E0502060401010101" pitchFamily="34" charset="-79"/>
                <a:cs typeface="David" panose="020E0502060401010101" pitchFamily="34" charset="-79"/>
              </a:rPr>
              <a:t>בניית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תוכנית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ליצירת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שלושה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סוגי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פגמים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</a:p>
          <a:p>
            <a:pPr marL="457200" indent="-228600" algn="r" defTabSz="914400" rtl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שריטה</a:t>
            </a:r>
            <a:endParaRPr lang="en-US" sz="3000" dirty="0">
              <a:effectLst/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457200" indent="-228600" algn="r" defTabSz="914400" rtl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כדור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אוויר</a:t>
            </a:r>
            <a:endParaRPr lang="en-US" sz="3000" dirty="0">
              <a:effectLst/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457200" indent="-228600" algn="r" defTabSz="914400" rtl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כתם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לכלוך</a:t>
            </a:r>
            <a:endParaRPr lang="en-US" sz="3000" dirty="0">
              <a:effectLst/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indent="-228600" algn="r" defTabSz="914400" rtl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 err="1">
                <a:latin typeface="David" panose="020E0502060401010101" pitchFamily="34" charset="-79"/>
                <a:cs typeface="David" panose="020E0502060401010101" pitchFamily="34" charset="-79"/>
              </a:rPr>
              <a:t>נפתור</a:t>
            </a:r>
            <a:r>
              <a:rPr lang="en-US" sz="3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בעזרת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עוותים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של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אליפסות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בשימוש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שתי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התכונות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הבאות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</a:p>
          <a:p>
            <a:pPr marL="285750" indent="-228600" algn="r" defTabSz="914400" rtl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יחס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צירים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של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אליפסה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marL="285750" indent="-228600" algn="r" defTabSz="914400" rtl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כמות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מחומר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הפגם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שנמצא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בתוך</a:t>
            </a:r>
            <a:r>
              <a:rPr lang="en-US" sz="30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30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האליפסה</a:t>
            </a:r>
            <a:endParaRPr lang="en-US" sz="3000" dirty="0">
              <a:effectLst/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indent="-228600" algn="r" defTabSz="914400" rtl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effectLst/>
            </a:endParaRPr>
          </a:p>
          <a:p>
            <a:pPr indent="-228600" algn="r" defTabSz="914400" rtl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r" defTabSz="914400" rtl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effectLst/>
            </a:endParaRPr>
          </a:p>
          <a:p>
            <a:pPr marL="457200" indent="-228600" algn="r" defTabSz="914400" rtl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25126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lose-up of a marble&#10;&#10;Description automatically generated">
            <a:extLst>
              <a:ext uri="{FF2B5EF4-FFF2-40B4-BE49-F238E27FC236}">
                <a16:creationId xmlns:a16="http://schemas.microsoft.com/office/drawing/2014/main" id="{9701EA29-F297-7397-74F8-9E98D0799F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8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57C492-271F-E962-9F32-81BA01A593AB}"/>
              </a:ext>
            </a:extLst>
          </p:cNvPr>
          <p:cNvSpPr txBox="1"/>
          <p:nvPr/>
        </p:nvSpPr>
        <p:spPr>
          <a:xfrm>
            <a:off x="7760072" y="0"/>
            <a:ext cx="3822189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 rt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 err="1"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הקדמה</a:t>
            </a:r>
            <a:endParaRPr lang="en-US" sz="5400" b="1" dirty="0">
              <a:latin typeface="David" panose="020E0502060401010101" pitchFamily="34" charset="-79"/>
              <a:ea typeface="+mj-ea"/>
              <a:cs typeface="David" panose="020E0502060401010101" pitchFamily="34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70F9ED-7DD6-E6B0-ED04-9BB92695A5D3}"/>
              </a:ext>
            </a:extLst>
          </p:cNvPr>
          <p:cNvSpPr txBox="1"/>
          <p:nvPr/>
        </p:nvSpPr>
        <p:spPr>
          <a:xfrm>
            <a:off x="99391" y="1261183"/>
            <a:ext cx="11993219" cy="543779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571500" indent="-228600" algn="r" defTabSz="914400" rtl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נרצה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לבנות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תוכנית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ב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-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Python 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היוצרת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פגמים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אקראיים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</a:p>
          <a:p>
            <a:pPr marL="571500" indent="-228600" algn="r" defTabSz="914400" rtl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נתמקד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בשלושה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סוגי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פגמים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עיקריים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בועת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אוויר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,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שריטה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וכתמי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לכלוך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</a:p>
          <a:p>
            <a:pPr marL="571500" indent="-228600" algn="r" defTabSz="914400" rtl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נגדיר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שני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מאפיינים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עיקריים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</a:p>
          <a:p>
            <a:pPr marL="1485900" lvl="2" indent="-228600" algn="r" defTabSz="914400" rtl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היחס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בין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צירי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האליפסה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marL="1485900" lvl="2" indent="-228600" algn="r" defTabSz="914400" rtl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כמות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מחומר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הפגם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שנמצא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בתוך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האליפסה</a:t>
            </a:r>
            <a:endParaRPr lang="en-US" sz="26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571500" indent="-228600" algn="r" defTabSz="914400" rtl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נשתמש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בשיל</a:t>
            </a:r>
            <a:r>
              <a:rPr lang="he-IL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וב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פונקציות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מובנות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 ב -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Python 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 על מנת לתאר את הפגמים. נעשה שימוש בספריות הבאות:</a:t>
            </a:r>
          </a:p>
          <a:p>
            <a:pPr marL="1028700" lvl="1" indent="-228600" algn="r" defTabSz="914400" rtl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b="1" dirty="0" err="1">
                <a:latin typeface="David" panose="020E0502060401010101" pitchFamily="34" charset="-79"/>
                <a:cs typeface="David" panose="020E0502060401010101" pitchFamily="34" charset="-79"/>
              </a:rPr>
              <a:t>Numpy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 - </a:t>
            </a:r>
            <a:r>
              <a:rPr lang="he-IL" sz="2600" b="0" i="0" dirty="0">
                <a:solidFill>
                  <a:srgbClr val="111111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היא ספריה מתמטית ומדעית מספקת פונקציות לניתוח נתונים, יצירת מערכים, וביצוע פעולות מתמטיות.</a:t>
            </a:r>
          </a:p>
          <a:p>
            <a:pPr marL="1028700" lvl="1" indent="-228600" algn="r" defTabSz="914400" rtl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11111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Cv2</a:t>
            </a:r>
            <a:r>
              <a:rPr lang="en-US" sz="2600" dirty="0">
                <a:solidFill>
                  <a:srgbClr val="11111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600" dirty="0">
                <a:solidFill>
                  <a:srgbClr val="11111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- </a:t>
            </a:r>
            <a:r>
              <a:rPr lang="he-IL" sz="2600" b="0" i="0" dirty="0">
                <a:solidFill>
                  <a:srgbClr val="111111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היא ספריה פתוחה לראייה ממוחשבת וללמידת מכונה.</a:t>
            </a:r>
          </a:p>
          <a:p>
            <a:pPr marL="1028700" lvl="1" indent="-228600" algn="r" defTabSz="914400" rtl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b="1" i="0" dirty="0">
                <a:solidFill>
                  <a:srgbClr val="111111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Matplotlib</a:t>
            </a:r>
            <a:r>
              <a:rPr lang="he-IL" sz="2600" dirty="0">
                <a:solidFill>
                  <a:srgbClr val="11111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- </a:t>
            </a:r>
            <a:r>
              <a:rPr lang="he-IL" sz="2600" b="0" i="0" dirty="0">
                <a:solidFill>
                  <a:srgbClr val="111111"/>
                </a:solidFill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היא ספריה להצגת נתונים גרפיים.</a:t>
            </a:r>
          </a:p>
          <a:p>
            <a:pPr marL="1028700" lvl="1" indent="-228600" algn="r" defTabSz="914400" rtl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600" b="1" dirty="0">
                <a:latin typeface="David" panose="020E0502060401010101" pitchFamily="34" charset="-79"/>
                <a:cs typeface="David" panose="020E0502060401010101" pitchFamily="34" charset="-79"/>
              </a:rPr>
              <a:t>SciPy</a:t>
            </a:r>
            <a:r>
              <a:rPr lang="en-US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 - הוא ספריית חישובים מדעיים עוצמתית </a:t>
            </a:r>
            <a:r>
              <a:rPr lang="he-IL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בפייתון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, המבוססת על היסודות שמספקת </a:t>
            </a:r>
            <a:r>
              <a:rPr lang="en-US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MunPy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. מספקת מגוון רחב של מודולים למשימות שונות (אופטימיזציה, </a:t>
            </a:r>
            <a:r>
              <a:rPr lang="he-IL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איטגרציה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...).</a:t>
            </a:r>
            <a:endParaRPr lang="en-US" sz="26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28600" indent="-228600" algn="r" defTabSz="914400" rtl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68728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CA2A5E-120B-BF4D-3AB6-F6E168DA8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EDBB80-3BE8-64C9-946C-C4FD2C8D867A}"/>
              </a:ext>
            </a:extLst>
          </p:cNvPr>
          <p:cNvSpPr txBox="1"/>
          <p:nvPr/>
        </p:nvSpPr>
        <p:spPr>
          <a:xfrm>
            <a:off x="1017765" y="232266"/>
            <a:ext cx="9392421" cy="13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 dirty="0" err="1">
                <a:solidFill>
                  <a:schemeClr val="tx1"/>
                </a:solidFill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הרעיון</a:t>
            </a:r>
            <a:endParaRPr lang="en-US" sz="6000" b="1" kern="1200" dirty="0">
              <a:solidFill>
                <a:schemeClr val="tx1"/>
              </a:solidFill>
              <a:latin typeface="David" panose="020E0502060401010101" pitchFamily="34" charset="-79"/>
              <a:ea typeface="+mj-ea"/>
              <a:cs typeface="David" panose="020E0502060401010101" pitchFamily="34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0BB9C3-42B3-5677-DDC7-518CCCCAB848}"/>
              </a:ext>
            </a:extLst>
          </p:cNvPr>
          <p:cNvSpPr txBox="1"/>
          <p:nvPr/>
        </p:nvSpPr>
        <p:spPr>
          <a:xfrm>
            <a:off x="2832652" y="1620078"/>
            <a:ext cx="8648229" cy="4664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algn="r" defTabSz="914400" rtl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שימוש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בעיוותי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אליפסה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על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מנת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לזהות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כל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אחד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מהפגמים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</a:p>
          <a:p>
            <a:pPr marL="285750" indent="-228600" algn="r" defTabSz="914400" rtl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הרעיון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הנחת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האליפה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על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הפגם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וחישוב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של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תכולת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הפגם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בתוך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האליפסה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, כך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נוכל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לזהות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האם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מדובר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בכדור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אוויר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,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שריטה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או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כתם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לכלוך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</a:p>
          <a:p>
            <a:pPr marL="285750" indent="-228600" algn="r" defTabSz="914400" rtl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בעזרת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הגדרת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שתי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התכונות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והאליפסה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נבצע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אלגוריתם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קצר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לחישוב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סוגי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הפגמים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</a:p>
          <a:p>
            <a:pPr marL="800100" lvl="1" indent="-228600" algn="r" defTabSz="914400" rtl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נחפש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מרכז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מסה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/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כובד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</a:p>
          <a:p>
            <a:pPr marL="800100" lvl="1" indent="-228600" algn="r" defTabSz="914400" rtl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נחפש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מטריצת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מומנטים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</a:p>
          <a:p>
            <a:pPr marL="800100" lvl="1" indent="-228600" algn="r" defTabSz="914400" rtl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נמצא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צירים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עיקריים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</a:p>
          <a:p>
            <a:pPr marL="800100" lvl="1" indent="-228600" algn="r" defTabSz="914400" rtl="1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נחשב את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ה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אליפסה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עם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אותם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צירים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עיקריים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שמצאנו</a:t>
            </a: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  <a:b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en-US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</p:txBody>
      </p:sp>
      <p:pic>
        <p:nvPicPr>
          <p:cNvPr id="10" name="Picture 9" descr="A light bulb with a wire&#10;&#10;Description automatically generated">
            <a:extLst>
              <a:ext uri="{FF2B5EF4-FFF2-40B4-BE49-F238E27FC236}">
                <a16:creationId xmlns:a16="http://schemas.microsoft.com/office/drawing/2014/main" id="{71DB4BF8-0067-5E0C-234B-14B20BA31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29276">
            <a:off x="458842" y="3291090"/>
            <a:ext cx="3115094" cy="3115094"/>
          </a:xfrm>
          <a:prstGeom prst="rect">
            <a:avLst/>
          </a:prstGeom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694F9D-767A-F21A-3AE5-3DBE9DEE0D08}"/>
              </a:ext>
            </a:extLst>
          </p:cNvPr>
          <p:cNvSpPr txBox="1"/>
          <p:nvPr/>
        </p:nvSpPr>
        <p:spPr>
          <a:xfrm>
            <a:off x="838200" y="2441767"/>
            <a:ext cx="11118574" cy="4257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algn="r" defTabSz="914400" rtl="1">
              <a:lnSpc>
                <a:spcPct val="150000"/>
              </a:lnSpc>
              <a:spcAft>
                <a:spcPts val="600"/>
              </a:spcAft>
            </a:pP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solidFill>
                  <a:schemeClr val="bg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marL="228600" algn="r" defTabSz="914400" rtl="1">
              <a:lnSpc>
                <a:spcPct val="150000"/>
              </a:lnSpc>
              <a:spcAft>
                <a:spcPts val="600"/>
              </a:spcAft>
            </a:pPr>
            <a:endParaRPr lang="en-US" sz="2400" dirty="0">
              <a:solidFill>
                <a:schemeClr val="bg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75715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3AE5FA-E0AD-A4BE-85ED-1402C184D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25230E8-3665-A472-F339-37D9A0759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8E42251-029C-A340-2A71-A9DAAF0D9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9D3A2AAD-D323-5645-EC6C-D1B0D1346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44E7C1F2-B7ED-6A2C-ADD1-37ECE275D68C}"/>
              </a:ext>
            </a:extLst>
          </p:cNvPr>
          <p:cNvSpPr txBox="1"/>
          <p:nvPr/>
        </p:nvSpPr>
        <p:spPr>
          <a:xfrm>
            <a:off x="7167277" y="958940"/>
            <a:ext cx="609452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 rt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Air-Ball</a:t>
            </a:r>
            <a:endParaRPr lang="he-IL" sz="4000" b="1" dirty="0">
              <a:latin typeface="David" panose="020E0502060401010101" pitchFamily="34" charset="-79"/>
              <a:ea typeface="+mj-ea"/>
              <a:cs typeface="David" panose="020E0502060401010101" pitchFamily="34" charset="-79"/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207024BC-D383-C161-FE8D-BAB2F249C896}"/>
              </a:ext>
            </a:extLst>
          </p:cNvPr>
          <p:cNvSpPr txBox="1"/>
          <p:nvPr/>
        </p:nvSpPr>
        <p:spPr>
          <a:xfrm>
            <a:off x="5381624" y="102744"/>
            <a:ext cx="6094520" cy="1031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 rt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he-IL" sz="6600" b="1" dirty="0"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מימוש ב-</a:t>
            </a:r>
            <a:r>
              <a:rPr lang="en-US" sz="6600" b="1" dirty="0"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Python</a:t>
            </a:r>
            <a:endParaRPr lang="en-US" sz="5400" b="1" dirty="0">
              <a:latin typeface="David" panose="020E0502060401010101" pitchFamily="34" charset="-79"/>
              <a:ea typeface="+mj-ea"/>
              <a:cs typeface="David" panose="020E0502060401010101" pitchFamily="34" charset="-79"/>
            </a:endParaRP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ACB1CC04-1617-05EE-62C5-90F5AE96DFB5}"/>
              </a:ext>
            </a:extLst>
          </p:cNvPr>
          <p:cNvSpPr txBox="1"/>
          <p:nvPr/>
        </p:nvSpPr>
        <p:spPr>
          <a:xfrm>
            <a:off x="755375" y="1572277"/>
            <a:ext cx="1101080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לכל כדור אוויר בוחרים נקודה שהיא מהווה את מרכז האליפסה (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ball_center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, עם ערכים 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x,y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לפי תמונה בצורה רנדומלית.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בוחרים את הרדיוס של 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x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ואת הרדיוס של 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y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(הצירים של האליפסה) בצורה רנדומלית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בעזרת נקודה (</a:t>
            </a:r>
            <a:r>
              <a:rPr lang="en-US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ball_axes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).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נבחרת זווית בצורה רנדומלית בה כדור האוויר מוטה.</a:t>
            </a:r>
          </a:p>
          <a:p>
            <a:pPr algn="r" rtl="1"/>
            <a:endParaRPr lang="he-IL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בודקים את היחס בין הצירים של האליפסה.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מציירים את האליפסה באמצעות פונקציה מובנית</a:t>
            </a:r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אליה נכנסו כל הנתונים לעיל.</a:t>
            </a: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he-IL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הצגה של כדורי האוויר עם יחס צירים של כל כדור בנפרד, </a:t>
            </a: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100% מהחומר ממלא את האליפסה בכל כדור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4351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3AE5FA-E0AD-A4BE-85ED-1402C184D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25230E8-3665-A472-F339-37D9A0759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8E42251-029C-A340-2A71-A9DAAF0D9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9D3A2AAD-D323-5645-EC6C-D1B0D1346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7129AB-0119-3290-3CF7-7E62C82147F9}"/>
              </a:ext>
            </a:extLst>
          </p:cNvPr>
          <p:cNvSpPr txBox="1"/>
          <p:nvPr/>
        </p:nvSpPr>
        <p:spPr>
          <a:xfrm>
            <a:off x="838200" y="2441767"/>
            <a:ext cx="11118574" cy="4257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algn="r" defTabSz="914400" rtl="1">
              <a:lnSpc>
                <a:spcPct val="150000"/>
              </a:lnSpc>
              <a:spcAft>
                <a:spcPts val="600"/>
              </a:spcAft>
            </a:pP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solidFill>
                  <a:schemeClr val="bg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marL="228600" algn="r" defTabSz="914400" rtl="1">
              <a:lnSpc>
                <a:spcPct val="150000"/>
              </a:lnSpc>
              <a:spcAft>
                <a:spcPts val="600"/>
              </a:spcAft>
            </a:pPr>
            <a:endParaRPr lang="en-US" sz="2400" dirty="0">
              <a:solidFill>
                <a:schemeClr val="bg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2B7BB179-F3C5-CE5F-D953-2CBF31DC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26" y="362376"/>
            <a:ext cx="11060348" cy="48130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BF2C24D5-BC4E-3942-016A-FB650CA9D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943" y="2583756"/>
            <a:ext cx="4080987" cy="42167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0BAB6E67-3B3F-B6A3-F1BA-15246468DC86}"/>
              </a:ext>
            </a:extLst>
          </p:cNvPr>
          <p:cNvSpPr txBox="1"/>
          <p:nvPr/>
        </p:nvSpPr>
        <p:spPr>
          <a:xfrm>
            <a:off x="8636673" y="6334780"/>
            <a:ext cx="334957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/>
              <a:t>The percentage of the material inside the ellipse for every airball: 100%</a:t>
            </a:r>
            <a:endParaRPr lang="he-IL" sz="1400" dirty="0"/>
          </a:p>
        </p:txBody>
      </p:sp>
      <p:pic>
        <p:nvPicPr>
          <p:cNvPr id="14" name="תמונה 13">
            <a:extLst>
              <a:ext uri="{FF2B5EF4-FFF2-40B4-BE49-F238E27FC236}">
                <a16:creationId xmlns:a16="http://schemas.microsoft.com/office/drawing/2014/main" id="{6499D65E-9924-AB46-4D13-8BDBFF194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163" y="4216892"/>
            <a:ext cx="1510839" cy="24813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42487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3AE5FA-E0AD-A4BE-85ED-1402C184D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25230E8-3665-A472-F339-37D9A0759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8E42251-029C-A340-2A71-A9DAAF0D9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9D3A2AAD-D323-5645-EC6C-D1B0D1346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7129AB-0119-3290-3CF7-7E62C82147F9}"/>
              </a:ext>
            </a:extLst>
          </p:cNvPr>
          <p:cNvSpPr txBox="1"/>
          <p:nvPr/>
        </p:nvSpPr>
        <p:spPr>
          <a:xfrm>
            <a:off x="838200" y="2441767"/>
            <a:ext cx="11118574" cy="4257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algn="r" defTabSz="914400" rtl="1">
              <a:lnSpc>
                <a:spcPct val="150000"/>
              </a:lnSpc>
              <a:spcAft>
                <a:spcPts val="600"/>
              </a:spcAft>
            </a:pP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solidFill>
                  <a:schemeClr val="bg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marL="228600" algn="r" defTabSz="914400" rtl="1">
              <a:lnSpc>
                <a:spcPct val="150000"/>
              </a:lnSpc>
              <a:spcAft>
                <a:spcPts val="600"/>
              </a:spcAft>
            </a:pPr>
            <a:endParaRPr lang="en-US" sz="2400" dirty="0">
              <a:solidFill>
                <a:schemeClr val="bg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C7C56C9-BF1E-A927-EA4A-784485BBBC4D}"/>
              </a:ext>
            </a:extLst>
          </p:cNvPr>
          <p:cNvSpPr txBox="1"/>
          <p:nvPr/>
        </p:nvSpPr>
        <p:spPr>
          <a:xfrm>
            <a:off x="6397487" y="309306"/>
            <a:ext cx="6096000" cy="86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 rt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Scratch</a:t>
            </a:r>
            <a:endParaRPr lang="he-IL" sz="5400" b="1" dirty="0">
              <a:latin typeface="David" panose="020E0502060401010101" pitchFamily="34" charset="-79"/>
              <a:ea typeface="+mj-ea"/>
              <a:cs typeface="David" panose="020E0502060401010101" pitchFamily="34" charset="-79"/>
            </a:endParaRP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F54501BE-EC5B-B46D-2025-974FFC04268C}"/>
              </a:ext>
            </a:extLst>
          </p:cNvPr>
          <p:cNvSpPr txBox="1"/>
          <p:nvPr/>
        </p:nvSpPr>
        <p:spPr>
          <a:xfrm>
            <a:off x="755374" y="1268688"/>
            <a:ext cx="10598426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לכל שריטה בוחרים בצורה רנדומלית נקודת התחלה ונקודת סוף</a:t>
            </a:r>
            <a:r>
              <a:rPr lang="en-US" sz="2800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 rtl="1"/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מחשבים את המרחק בין שתי הנקודות בעזרת פונקציית עזר </a:t>
            </a:r>
            <a:r>
              <a:rPr lang="en-US" sz="2800" b="1" dirty="0" err="1">
                <a:latin typeface="David" panose="020E0502060401010101" pitchFamily="34" charset="-79"/>
                <a:cs typeface="David" panose="020E0502060401010101" pitchFamily="34" charset="-79"/>
              </a:rPr>
              <a:t>calculate_distance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עובי כל שריטה מוגדר להיות 2 (</a:t>
            </a:r>
            <a:r>
              <a:rPr lang="en-US" sz="2800" dirty="0">
                <a:latin typeface="David" panose="020E0502060401010101" pitchFamily="34" charset="-79"/>
                <a:cs typeface="David" panose="020E0502060401010101" pitchFamily="34" charset="-79"/>
              </a:rPr>
              <a:t>const</a:t>
            </a: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) ולכן נחשב בהתאמה את יחס הצירים.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מדפיסים את הקו המחבר בין נקודת ההתחלה ונקודת הסיום.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800" dirty="0">
                <a:latin typeface="David" panose="020E0502060401010101" pitchFamily="34" charset="-79"/>
                <a:cs typeface="David" panose="020E0502060401010101" pitchFamily="34" charset="-79"/>
              </a:rPr>
              <a:t>הצגת השריטות ויחס בין הצירים, </a:t>
            </a:r>
            <a:r>
              <a:rPr lang="he-IL" sz="2800" b="1" dirty="0">
                <a:latin typeface="David" panose="020E0502060401010101" pitchFamily="34" charset="-79"/>
                <a:cs typeface="David" panose="020E0502060401010101" pitchFamily="34" charset="-79"/>
              </a:rPr>
              <a:t>אחוז החומר הנמצא בתוך האליפסה במקרה זה שואף ל-0, כלומר כמה שיותר קטן.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35474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3AE5FA-E0AD-A4BE-85ED-1402C184D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25230E8-3665-A472-F339-37D9A0759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8E42251-029C-A340-2A71-A9DAAF0D9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9D3A2AAD-D323-5645-EC6C-D1B0D1346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7129AB-0119-3290-3CF7-7E62C82147F9}"/>
              </a:ext>
            </a:extLst>
          </p:cNvPr>
          <p:cNvSpPr txBox="1"/>
          <p:nvPr/>
        </p:nvSpPr>
        <p:spPr>
          <a:xfrm>
            <a:off x="838200" y="2441767"/>
            <a:ext cx="11118574" cy="4257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algn="r" defTabSz="914400" rtl="1">
              <a:lnSpc>
                <a:spcPct val="150000"/>
              </a:lnSpc>
              <a:spcAft>
                <a:spcPts val="600"/>
              </a:spcAft>
            </a:pP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solidFill>
                  <a:schemeClr val="bg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marL="228600" algn="r" defTabSz="914400" rtl="1">
              <a:lnSpc>
                <a:spcPct val="150000"/>
              </a:lnSpc>
              <a:spcAft>
                <a:spcPts val="600"/>
              </a:spcAft>
            </a:pPr>
            <a:endParaRPr lang="en-US" sz="2400" dirty="0">
              <a:solidFill>
                <a:schemeClr val="bg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0890BFC7-3C7E-7271-7F60-E72CB0985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59" y="714448"/>
            <a:ext cx="11881281" cy="39506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0958AA05-7190-A103-9CD5-2383C7CE1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670" y="2500081"/>
            <a:ext cx="3944751" cy="42572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96D95AF9-108A-C203-5819-59126C6312F9}"/>
              </a:ext>
            </a:extLst>
          </p:cNvPr>
          <p:cNvSpPr txBox="1"/>
          <p:nvPr/>
        </p:nvSpPr>
        <p:spPr>
          <a:xfrm>
            <a:off x="8103805" y="631682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The percentage of the material inside the ellipse: </a:t>
            </a:r>
            <a:r>
              <a:rPr lang="he-IL" sz="1400" dirty="0"/>
              <a:t>0%</a:t>
            </a:r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E5823ADE-F9B3-09F9-8801-EF3A74D5B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458" y="4254412"/>
            <a:ext cx="2206347" cy="237018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02740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3AE5FA-E0AD-A4BE-85ED-1402C184D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25230E8-3665-A472-F339-37D9A0759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8E42251-029C-A340-2A71-A9DAAF0D9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9D3A2AAD-D323-5645-EC6C-D1B0D1346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1F0B3CDC-4C9F-7F53-FDBD-189FA5458B2B}"/>
              </a:ext>
            </a:extLst>
          </p:cNvPr>
          <p:cNvSpPr txBox="1"/>
          <p:nvPr/>
        </p:nvSpPr>
        <p:spPr>
          <a:xfrm>
            <a:off x="6825039" y="403549"/>
            <a:ext cx="6209930" cy="86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 rt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dirty="0">
                <a:latin typeface="David" panose="020E0502060401010101" pitchFamily="34" charset="-79"/>
                <a:ea typeface="+mj-ea"/>
                <a:cs typeface="David" panose="020E0502060401010101" pitchFamily="34" charset="-79"/>
              </a:rPr>
              <a:t>Stain</a:t>
            </a:r>
            <a:endParaRPr lang="he-IL" sz="5400" b="1" dirty="0">
              <a:latin typeface="David" panose="020E0502060401010101" pitchFamily="34" charset="-79"/>
              <a:ea typeface="+mj-ea"/>
              <a:cs typeface="David" panose="020E0502060401010101" pitchFamily="34" charset="-79"/>
            </a:endParaRPr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52F97030-1F2A-1573-8788-D4B2B4B74FBC}"/>
              </a:ext>
            </a:extLst>
          </p:cNvPr>
          <p:cNvSpPr txBox="1"/>
          <p:nvPr/>
        </p:nvSpPr>
        <p:spPr>
          <a:xfrm>
            <a:off x="536714" y="1264554"/>
            <a:ext cx="11265028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בוחרים 10 נקודות בצורה רנדומלית מסביב לרדיוס קבוע</a:t>
            </a:r>
            <a:r>
              <a:rPr lang="en-US" sz="2200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  <a:endParaRPr lang="he-IL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r" rtl="1"/>
            <a:endParaRPr lang="he-IL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מחברים בין כל הנקודות שיצרנו בעזרת פונקציה </a:t>
            </a:r>
            <a:r>
              <a:rPr lang="he-IL" sz="2200" b="1" dirty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en-US" sz="2200" b="1" dirty="0" err="1">
                <a:latin typeface="David" panose="020E0502060401010101" pitchFamily="34" charset="-79"/>
                <a:cs typeface="David" panose="020E0502060401010101" pitchFamily="34" charset="-79"/>
              </a:rPr>
              <a:t>splprep</a:t>
            </a:r>
            <a:r>
              <a:rPr lang="he-IL" sz="2200" b="1" dirty="0">
                <a:latin typeface="David" panose="020E0502060401010101" pitchFamily="34" charset="-79"/>
                <a:cs typeface="David" panose="020E0502060401010101" pitchFamily="34" charset="-79"/>
              </a:rPr>
              <a:t>)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 המעבירה קו ישר בין כולם ויוצרת לבסוף צורה סגורה (נקודת ההתחלה היא נקודת הסיום). </a:t>
            </a:r>
          </a:p>
          <a:p>
            <a:pPr algn="r" rtl="1"/>
            <a:endParaRPr lang="he-IL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על מנת שהקווים יצרו עקומות אשר מדמות כתם נשתמש בפונקציות טריגונומטריות ונעוות את הנקודות עצמן.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בנוסף, מייצרים אליפסה בהתאם לרדיוס הנתון (על מנת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לאמוד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 את אחוז החומר של הכתם הנמצא בתוך האליפסה).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מחשבים את השטח של הכתם הנמצא בתוך האליפסה באמצעות אינטגרציה </a:t>
            </a:r>
            <a:r>
              <a:rPr lang="he-IL" sz="22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כדי </a:t>
            </a:r>
            <a:r>
              <a:rPr lang="he-IL" sz="2200" dirty="0" err="1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לאמוד</a:t>
            </a:r>
            <a:r>
              <a:rPr lang="he-IL" sz="2200" dirty="0">
                <a:effectLst/>
                <a:latin typeface="David" panose="020E0502060401010101" pitchFamily="34" charset="-79"/>
                <a:cs typeface="David" panose="020E0502060401010101" pitchFamily="34" charset="-79"/>
              </a:rPr>
              <a:t> את מספר האחוזים של החומר הנמצאים באליפסה.</a:t>
            </a:r>
            <a:endParaRPr lang="he-IL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he-IL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מדפיסים את הכתם עם האחוזים בהתאמה.</a:t>
            </a:r>
          </a:p>
        </p:txBody>
      </p:sp>
    </p:spTree>
    <p:extLst>
      <p:ext uri="{BB962C8B-B14F-4D97-AF65-F5344CB8AC3E}">
        <p14:creationId xmlns:p14="http://schemas.microsoft.com/office/powerpoint/2010/main" val="4280620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3AE5FA-E0AD-A4BE-85ED-1402C184D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25230E8-3665-A472-F339-37D9A0759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8E42251-029C-A340-2A71-A9DAAF0D9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9D3A2AAD-D323-5645-EC6C-D1B0D1346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7129AB-0119-3290-3CF7-7E62C82147F9}"/>
              </a:ext>
            </a:extLst>
          </p:cNvPr>
          <p:cNvSpPr txBox="1"/>
          <p:nvPr/>
        </p:nvSpPr>
        <p:spPr>
          <a:xfrm>
            <a:off x="1073426" y="2515658"/>
            <a:ext cx="11118574" cy="4257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algn="r" defTabSz="914400" rtl="1">
              <a:lnSpc>
                <a:spcPct val="150000"/>
              </a:lnSpc>
              <a:spcAft>
                <a:spcPts val="600"/>
              </a:spcAft>
            </a:pPr>
            <a:b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400" dirty="0">
                <a:solidFill>
                  <a:schemeClr val="bg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marL="228600" algn="r" defTabSz="914400" rtl="1">
              <a:lnSpc>
                <a:spcPct val="150000"/>
              </a:lnSpc>
              <a:spcAft>
                <a:spcPts val="600"/>
              </a:spcAft>
            </a:pPr>
            <a:endParaRPr lang="en-US" sz="2400" dirty="0">
              <a:solidFill>
                <a:schemeClr val="bg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FB33C5FF-3D04-BE1A-A555-16226C8AA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26" y="163654"/>
            <a:ext cx="7825654" cy="53227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86CB33FF-CD81-9F53-81BD-3DB55447D0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3097" b="1065"/>
          <a:stretch/>
        </p:blipFill>
        <p:spPr>
          <a:xfrm>
            <a:off x="4831799" y="350921"/>
            <a:ext cx="7360201" cy="37491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תמונה 11" descr="תמונה שמכילה טקסט, צילום מסך, תרשים, עיגול&#10;&#10;התיאור נוצר באופן אוטומטי">
            <a:extLst>
              <a:ext uri="{FF2B5EF4-FFF2-40B4-BE49-F238E27FC236}">
                <a16:creationId xmlns:a16="http://schemas.microsoft.com/office/drawing/2014/main" id="{C16F1390-455F-4C25-3495-17A895FF3A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216" y="4972631"/>
            <a:ext cx="2786766" cy="184280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60A2B728-558C-8745-B95D-DBC7D27AA7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5982" y="4950069"/>
            <a:ext cx="2661824" cy="184280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40370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1185</TotalTime>
  <Words>571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David</vt:lpstr>
      <vt:lpstr>Office Theme</vt:lpstr>
      <vt:lpstr>מודלים מתמטיים בטכנולוגיה כלכלה ורפואה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מודלים מתמטיים בטכנולוגיית כלכלה ורפואה</dc:title>
  <dc:creator>דנה קטרין צרצנקוב</dc:creator>
  <cp:lastModifiedBy>דנה קטרין צרצנקוב</cp:lastModifiedBy>
  <cp:revision>90</cp:revision>
  <dcterms:created xsi:type="dcterms:W3CDTF">2024-02-27T19:52:56Z</dcterms:created>
  <dcterms:modified xsi:type="dcterms:W3CDTF">2024-04-07T16:18:20Z</dcterms:modified>
</cp:coreProperties>
</file>